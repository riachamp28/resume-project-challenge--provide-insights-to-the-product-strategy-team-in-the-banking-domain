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8" r:id="rId3"/>
    <p:sldId id="259" r:id="rId4"/>
    <p:sldId id="260" r:id="rId5"/>
    <p:sldId id="264" r:id="rId6"/>
    <p:sldId id="265" r:id="rId7"/>
    <p:sldId id="267"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7542264-72AD-48F8-8999-AC5FED12AA60}" type="datetimeFigureOut">
              <a:rPr lang="en-IN" smtClean="0"/>
              <a:t>10-01-2026</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857E1E9A-4752-4C67-989B-D0747A0BC177}" type="slidenum">
              <a:rPr lang="en-IN" smtClean="0"/>
              <a:t>‹#›</a:t>
            </a:fld>
            <a:endParaRPr lang="en-IN"/>
          </a:p>
        </p:txBody>
      </p:sp>
    </p:spTree>
    <p:extLst>
      <p:ext uri="{BB962C8B-B14F-4D97-AF65-F5344CB8AC3E}">
        <p14:creationId xmlns:p14="http://schemas.microsoft.com/office/powerpoint/2010/main" val="40175715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542264-72AD-48F8-8999-AC5FED12AA60}" type="datetimeFigureOut">
              <a:rPr lang="en-IN" smtClean="0"/>
              <a:t>10-01-2026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57E1E9A-4752-4C67-989B-D0747A0BC177}" type="slidenum">
              <a:rPr lang="en-IN" smtClean="0"/>
              <a:t>‹#›</a:t>
            </a:fld>
            <a:endParaRPr lang="en-IN"/>
          </a:p>
        </p:txBody>
      </p:sp>
    </p:spTree>
    <p:extLst>
      <p:ext uri="{BB962C8B-B14F-4D97-AF65-F5344CB8AC3E}">
        <p14:creationId xmlns:p14="http://schemas.microsoft.com/office/powerpoint/2010/main" val="14619267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7542264-72AD-48F8-8999-AC5FED12AA60}" type="datetimeFigureOut">
              <a:rPr lang="en-IN" smtClean="0"/>
              <a:t>10-01-2026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57E1E9A-4752-4C67-989B-D0747A0BC177}" type="slidenum">
              <a:rPr lang="en-IN" smtClean="0"/>
              <a:t>‹#›</a:t>
            </a:fld>
            <a:endParaRPr lang="en-IN"/>
          </a:p>
        </p:txBody>
      </p:sp>
    </p:spTree>
    <p:extLst>
      <p:ext uri="{BB962C8B-B14F-4D97-AF65-F5344CB8AC3E}">
        <p14:creationId xmlns:p14="http://schemas.microsoft.com/office/powerpoint/2010/main" val="6862109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542264-72AD-48F8-8999-AC5FED12AA60}" type="datetimeFigureOut">
              <a:rPr lang="en-IN" smtClean="0"/>
              <a:t>10-01-2026</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857E1E9A-4752-4C67-989B-D0747A0BC177}" type="slidenum">
              <a:rPr lang="en-IN" smtClean="0"/>
              <a:t>‹#›</a:t>
            </a:fld>
            <a:endParaRPr lang="en-IN"/>
          </a:p>
        </p:txBody>
      </p:sp>
    </p:spTree>
    <p:extLst>
      <p:ext uri="{BB962C8B-B14F-4D97-AF65-F5344CB8AC3E}">
        <p14:creationId xmlns:p14="http://schemas.microsoft.com/office/powerpoint/2010/main" val="361207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7542264-72AD-48F8-8999-AC5FED12AA60}" type="datetimeFigureOut">
              <a:rPr lang="en-IN" smtClean="0"/>
              <a:t>10-01-2026</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857E1E9A-4752-4C67-989B-D0747A0BC177}" type="slidenum">
              <a:rPr lang="en-IN" smtClean="0"/>
              <a:t>‹#›</a:t>
            </a:fld>
            <a:endParaRPr lang="en-IN"/>
          </a:p>
        </p:txBody>
      </p:sp>
    </p:spTree>
    <p:extLst>
      <p:ext uri="{BB962C8B-B14F-4D97-AF65-F5344CB8AC3E}">
        <p14:creationId xmlns:p14="http://schemas.microsoft.com/office/powerpoint/2010/main" val="31917434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7542264-72AD-48F8-8999-AC5FED12AA60}" type="datetimeFigureOut">
              <a:rPr lang="en-IN" smtClean="0"/>
              <a:t>10-01-2026</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857E1E9A-4752-4C67-989B-D0747A0BC177}" type="slidenum">
              <a:rPr lang="en-IN" smtClean="0"/>
              <a:t>‹#›</a:t>
            </a:fld>
            <a:endParaRPr lang="en-IN"/>
          </a:p>
        </p:txBody>
      </p:sp>
    </p:spTree>
    <p:extLst>
      <p:ext uri="{BB962C8B-B14F-4D97-AF65-F5344CB8AC3E}">
        <p14:creationId xmlns:p14="http://schemas.microsoft.com/office/powerpoint/2010/main" val="19752966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542264-72AD-48F8-8999-AC5FED12AA60}" type="datetimeFigureOut">
              <a:rPr lang="en-IN" smtClean="0"/>
              <a:t>10-01-2026</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857E1E9A-4752-4C67-989B-D0747A0BC177}" type="slidenum">
              <a:rPr lang="en-IN" smtClean="0"/>
              <a:t>‹#›</a:t>
            </a:fld>
            <a:endParaRPr lang="en-IN"/>
          </a:p>
        </p:txBody>
      </p:sp>
    </p:spTree>
    <p:extLst>
      <p:ext uri="{BB962C8B-B14F-4D97-AF65-F5344CB8AC3E}">
        <p14:creationId xmlns:p14="http://schemas.microsoft.com/office/powerpoint/2010/main" val="13074471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7542264-72AD-48F8-8999-AC5FED12AA60}" type="datetimeFigureOut">
              <a:rPr lang="en-IN" smtClean="0"/>
              <a:t>10-01-2026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857E1E9A-4752-4C67-989B-D0747A0BC177}" type="slidenum">
              <a:rPr lang="en-IN" smtClean="0"/>
              <a:t>‹#›</a:t>
            </a:fld>
            <a:endParaRPr lang="en-IN"/>
          </a:p>
        </p:txBody>
      </p:sp>
    </p:spTree>
    <p:extLst>
      <p:ext uri="{BB962C8B-B14F-4D97-AF65-F5344CB8AC3E}">
        <p14:creationId xmlns:p14="http://schemas.microsoft.com/office/powerpoint/2010/main" val="9040458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7542264-72AD-48F8-8999-AC5FED12AA60}" type="datetimeFigureOut">
              <a:rPr lang="en-IN" smtClean="0"/>
              <a:t>10-01-2026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57E1E9A-4752-4C67-989B-D0747A0BC177}" type="slidenum">
              <a:rPr lang="en-IN" smtClean="0"/>
              <a:t>‹#›</a:t>
            </a:fld>
            <a:endParaRPr lang="en-IN"/>
          </a:p>
        </p:txBody>
      </p:sp>
    </p:spTree>
    <p:extLst>
      <p:ext uri="{BB962C8B-B14F-4D97-AF65-F5344CB8AC3E}">
        <p14:creationId xmlns:p14="http://schemas.microsoft.com/office/powerpoint/2010/main" val="26660422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7542264-72AD-48F8-8999-AC5FED12AA60}" type="datetimeFigureOut">
              <a:rPr lang="en-IN" smtClean="0"/>
              <a:t>10-01-2026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57E1E9A-4752-4C67-989B-D0747A0BC177}" type="slidenum">
              <a:rPr lang="en-IN" smtClean="0"/>
              <a:t>‹#›</a:t>
            </a:fld>
            <a:endParaRPr lang="en-IN"/>
          </a:p>
        </p:txBody>
      </p:sp>
    </p:spTree>
    <p:extLst>
      <p:ext uri="{BB962C8B-B14F-4D97-AF65-F5344CB8AC3E}">
        <p14:creationId xmlns:p14="http://schemas.microsoft.com/office/powerpoint/2010/main" val="10629118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7542264-72AD-48F8-8999-AC5FED12AA60}" type="datetimeFigureOut">
              <a:rPr lang="en-IN" smtClean="0"/>
              <a:t>10-01-2026</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57E1E9A-4752-4C67-989B-D0747A0BC177}"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5075442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7542264-72AD-48F8-8999-AC5FED12AA60}" type="datetimeFigureOut">
              <a:rPr lang="en-IN" smtClean="0"/>
              <a:t>10-01-2026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57E1E9A-4752-4C67-989B-D0747A0BC177}" type="slidenum">
              <a:rPr lang="en-IN" smtClean="0"/>
              <a:t>‹#›</a:t>
            </a:fld>
            <a:endParaRPr lang="en-IN"/>
          </a:p>
        </p:txBody>
      </p:sp>
    </p:spTree>
    <p:extLst>
      <p:ext uri="{BB962C8B-B14F-4D97-AF65-F5344CB8AC3E}">
        <p14:creationId xmlns:p14="http://schemas.microsoft.com/office/powerpoint/2010/main" val="11800031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7542264-72AD-48F8-8999-AC5FED12AA60}" type="datetimeFigureOut">
              <a:rPr lang="en-IN" smtClean="0"/>
              <a:t>10-01-2026</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57E1E9A-4752-4C67-989B-D0747A0BC177}"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2082221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7542264-72AD-48F8-8999-AC5FED12AA60}" type="datetimeFigureOut">
              <a:rPr lang="en-IN" smtClean="0"/>
              <a:t>10-01-2026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57E1E9A-4752-4C67-989B-D0747A0BC177}" type="slidenum">
              <a:rPr lang="en-IN" smtClean="0"/>
              <a:t>‹#›</a:t>
            </a:fld>
            <a:endParaRPr lang="en-IN"/>
          </a:p>
        </p:txBody>
      </p:sp>
    </p:spTree>
    <p:extLst>
      <p:ext uri="{BB962C8B-B14F-4D97-AF65-F5344CB8AC3E}">
        <p14:creationId xmlns:p14="http://schemas.microsoft.com/office/powerpoint/2010/main" val="39948167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542264-72AD-48F8-8999-AC5FED12AA60}" type="datetimeFigureOut">
              <a:rPr lang="en-IN" smtClean="0"/>
              <a:t>10-01-2026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57E1E9A-4752-4C67-989B-D0747A0BC177}" type="slidenum">
              <a:rPr lang="en-IN" smtClean="0"/>
              <a:t>‹#›</a:t>
            </a:fld>
            <a:endParaRPr lang="en-IN"/>
          </a:p>
        </p:txBody>
      </p:sp>
    </p:spTree>
    <p:extLst>
      <p:ext uri="{BB962C8B-B14F-4D97-AF65-F5344CB8AC3E}">
        <p14:creationId xmlns:p14="http://schemas.microsoft.com/office/powerpoint/2010/main" val="32097037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542264-72AD-48F8-8999-AC5FED12AA60}" type="datetimeFigureOut">
              <a:rPr lang="en-IN" smtClean="0"/>
              <a:t>10-01-2026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57E1E9A-4752-4C67-989B-D0747A0BC177}" type="slidenum">
              <a:rPr lang="en-IN" smtClean="0"/>
              <a:t>‹#›</a:t>
            </a:fld>
            <a:endParaRPr lang="en-IN"/>
          </a:p>
        </p:txBody>
      </p:sp>
    </p:spTree>
    <p:extLst>
      <p:ext uri="{BB962C8B-B14F-4D97-AF65-F5344CB8AC3E}">
        <p14:creationId xmlns:p14="http://schemas.microsoft.com/office/powerpoint/2010/main" val="37852852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542264-72AD-48F8-8999-AC5FED12AA60}" type="datetimeFigureOut">
              <a:rPr lang="en-IN" smtClean="0"/>
              <a:t>10-01-2026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7E1E9A-4752-4C67-989B-D0747A0BC177}" type="slidenum">
              <a:rPr lang="en-IN" smtClean="0"/>
              <a:t>‹#›</a:t>
            </a:fld>
            <a:endParaRPr lang="en-IN"/>
          </a:p>
        </p:txBody>
      </p:sp>
    </p:spTree>
    <p:extLst>
      <p:ext uri="{BB962C8B-B14F-4D97-AF65-F5344CB8AC3E}">
        <p14:creationId xmlns:p14="http://schemas.microsoft.com/office/powerpoint/2010/main" val="3658855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57542264-72AD-48F8-8999-AC5FED12AA60}" type="datetimeFigureOut">
              <a:rPr lang="en-IN" smtClean="0"/>
              <a:t>10-01-2026</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857E1E9A-4752-4C67-989B-D0747A0BC177}" type="slidenum">
              <a:rPr lang="en-IN" smtClean="0"/>
              <a:t>‹#›</a:t>
            </a:fld>
            <a:endParaRPr lang="en-IN"/>
          </a:p>
        </p:txBody>
      </p:sp>
    </p:spTree>
    <p:extLst>
      <p:ext uri="{BB962C8B-B14F-4D97-AF65-F5344CB8AC3E}">
        <p14:creationId xmlns:p14="http://schemas.microsoft.com/office/powerpoint/2010/main" val="2640679688"/>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44DDCB-977F-CC89-5A9A-B1D0A24EDFA8}"/>
              </a:ext>
            </a:extLst>
          </p:cNvPr>
          <p:cNvSpPr>
            <a:spLocks noGrp="1"/>
          </p:cNvSpPr>
          <p:nvPr>
            <p:ph type="ctrTitle"/>
          </p:nvPr>
        </p:nvSpPr>
        <p:spPr>
          <a:xfrm>
            <a:off x="1729242" y="1600200"/>
            <a:ext cx="8915399" cy="2262781"/>
          </a:xfrm>
        </p:spPr>
        <p:txBody>
          <a:bodyPr>
            <a:normAutofit/>
          </a:bodyPr>
          <a:lstStyle/>
          <a:p>
            <a:r>
              <a:rPr lang="en-US" sz="4000" dirty="0">
                <a:latin typeface="Arial" panose="020B0604020202020204" pitchFamily="34" charset="0"/>
                <a:cs typeface="Arial" panose="020B0604020202020204" pitchFamily="34" charset="0"/>
              </a:rPr>
              <a:t>Insights to the Product Strategy Team in the Banking Domain</a:t>
            </a:r>
            <a:br>
              <a:rPr lang="en-US" b="1" dirty="0"/>
            </a:br>
            <a:endParaRPr lang="en-IN" dirty="0">
              <a:latin typeface="Gill Sans MT" panose="020B0502020104020203" pitchFamily="34" charset="0"/>
            </a:endParaRPr>
          </a:p>
        </p:txBody>
      </p:sp>
      <p:sp>
        <p:nvSpPr>
          <p:cNvPr id="3" name="Subtitle 2">
            <a:extLst>
              <a:ext uri="{FF2B5EF4-FFF2-40B4-BE49-F238E27FC236}">
                <a16:creationId xmlns:a16="http://schemas.microsoft.com/office/drawing/2014/main" id="{5CE23532-E53A-C3DA-0EA9-F85B540DF706}"/>
              </a:ext>
            </a:extLst>
          </p:cNvPr>
          <p:cNvSpPr>
            <a:spLocks noGrp="1"/>
          </p:cNvSpPr>
          <p:nvPr>
            <p:ph type="subTitle" idx="1"/>
          </p:nvPr>
        </p:nvSpPr>
        <p:spPr>
          <a:xfrm>
            <a:off x="3960813" y="4131517"/>
            <a:ext cx="7077301" cy="1126283"/>
          </a:xfrm>
        </p:spPr>
        <p:txBody>
          <a:bodyPr/>
          <a:lstStyle/>
          <a:p>
            <a:r>
              <a:rPr lang="en-US" dirty="0"/>
              <a:t>                                       </a:t>
            </a:r>
            <a:r>
              <a:rPr lang="en-US" b="1" dirty="0">
                <a:latin typeface="Arial" panose="020B0604020202020204" pitchFamily="34" charset="0"/>
                <a:cs typeface="Arial" panose="020B0604020202020204" pitchFamily="34" charset="0"/>
              </a:rPr>
              <a:t>Presentation By:- Ria Sangwan </a:t>
            </a:r>
            <a:endParaRPr lang="en-IN"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6230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CBECF-E760-DED0-0F2C-BC7C1A933B45}"/>
              </a:ext>
            </a:extLst>
          </p:cNvPr>
          <p:cNvSpPr>
            <a:spLocks noGrp="1"/>
          </p:cNvSpPr>
          <p:nvPr>
            <p:ph type="title"/>
          </p:nvPr>
        </p:nvSpPr>
        <p:spPr>
          <a:xfrm>
            <a:off x="913774" y="961076"/>
            <a:ext cx="8911687" cy="1280890"/>
          </a:xfrm>
        </p:spPr>
        <p:txBody>
          <a:bodyPr>
            <a:normAutofit/>
          </a:bodyPr>
          <a:lstStyle/>
          <a:p>
            <a:r>
              <a:rPr lang="en-US" sz="4000" dirty="0">
                <a:latin typeface="Arial" panose="020B0604020202020204" pitchFamily="34" charset="0"/>
                <a:cs typeface="Arial" panose="020B0604020202020204" pitchFamily="34" charset="0"/>
              </a:rPr>
              <a:t>What is a Banking Domain?</a:t>
            </a:r>
            <a:endParaRPr lang="en-IN" sz="40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9B0BCA55-94B9-9959-C98F-6C09BB95A719}"/>
              </a:ext>
            </a:extLst>
          </p:cNvPr>
          <p:cNvSpPr>
            <a:spLocks noGrp="1"/>
          </p:cNvSpPr>
          <p:nvPr>
            <p:ph sz="quarter" idx="13"/>
          </p:nvPr>
        </p:nvSpPr>
        <p:spPr>
          <a:xfrm>
            <a:off x="706944" y="2241966"/>
            <a:ext cx="10363826" cy="3424107"/>
          </a:xfrm>
        </p:spPr>
        <p:txBody>
          <a:bodyPr>
            <a:normAutofit fontScale="92500" lnSpcReduction="10000"/>
          </a:bodyPr>
          <a:lstStyle/>
          <a:p>
            <a:r>
              <a:rPr lang="en-US" sz="1900" dirty="0">
                <a:latin typeface="Arial" panose="020B0604020202020204" pitchFamily="34" charset="0"/>
                <a:ea typeface="Calibri" panose="020F0502020204030204" pitchFamily="34" charset="0"/>
                <a:cs typeface="Arial" panose="020B0604020202020204" pitchFamily="34" charset="0"/>
              </a:rPr>
              <a:t>The banking domain refers to all the processes, systems, rules and technologies that support how banks operate and deliver financial services. It is one of the largest and most critical domains in It because it deals with money, security, risk and customer trust. </a:t>
            </a:r>
          </a:p>
          <a:p>
            <a:r>
              <a:rPr lang="en-US" sz="1900" dirty="0">
                <a:latin typeface="Arial" panose="020B0604020202020204" pitchFamily="34" charset="0"/>
                <a:ea typeface="Calibri" panose="020F0502020204030204" pitchFamily="34" charset="0"/>
                <a:cs typeface="Arial" panose="020B0604020202020204" pitchFamily="34" charset="0"/>
              </a:rPr>
              <a:t>What the Banking Domain includes: </a:t>
            </a:r>
          </a:p>
          <a:p>
            <a:r>
              <a:rPr lang="en-US" sz="1900" dirty="0">
                <a:latin typeface="Arial" panose="020B0604020202020204" pitchFamily="34" charset="0"/>
                <a:ea typeface="Calibri" panose="020F0502020204030204" pitchFamily="34" charset="0"/>
                <a:cs typeface="Arial" panose="020B0604020202020204" pitchFamily="34" charset="0"/>
              </a:rPr>
              <a:t>Core Banking- Opening accounts(savings, current), Deposits &amp; withdrawals, funds transfers(neft, RTGS, IMPS)</a:t>
            </a:r>
          </a:p>
          <a:p>
            <a:r>
              <a:rPr lang="en-IN" sz="1900" dirty="0">
                <a:latin typeface="Arial" panose="020B0604020202020204" pitchFamily="34" charset="0"/>
                <a:ea typeface="Calibri" panose="020F0502020204030204" pitchFamily="34" charset="0"/>
                <a:cs typeface="Arial" panose="020B0604020202020204" pitchFamily="34" charset="0"/>
              </a:rPr>
              <a:t>Loan processing, interest calculation</a:t>
            </a:r>
          </a:p>
          <a:p>
            <a:r>
              <a:rPr lang="en-IN" sz="1900" dirty="0">
                <a:latin typeface="Arial" panose="020B0604020202020204" pitchFamily="34" charset="0"/>
                <a:ea typeface="Calibri" panose="020F0502020204030204" pitchFamily="34" charset="0"/>
                <a:cs typeface="Arial" panose="020B0604020202020204" pitchFamily="34" charset="0"/>
              </a:rPr>
              <a:t>Payments- upi, Imps, neft, rtgs, debit/credit card transactions, internet banking, mobile wallets(Paytm, Phonepe), pos machines.</a:t>
            </a:r>
          </a:p>
          <a:p>
            <a:r>
              <a:rPr lang="en-IN" sz="1900" dirty="0">
                <a:latin typeface="Arial" panose="020B0604020202020204" pitchFamily="34" charset="0"/>
                <a:ea typeface="Calibri" panose="020F0502020204030204" pitchFamily="34" charset="0"/>
                <a:cs typeface="Arial" panose="020B0604020202020204" pitchFamily="34" charset="0"/>
              </a:rPr>
              <a:t>Loans &amp; credit- Home loans, personal loans, business loan, credit cards</a:t>
            </a:r>
            <a:r>
              <a:rPr lang="en-IN" sz="2100" dirty="0">
                <a:latin typeface="Calibri" panose="020F0502020204030204" pitchFamily="34" charset="0"/>
                <a:ea typeface="Calibri" panose="020F0502020204030204" pitchFamily="34" charset="0"/>
                <a:cs typeface="Calibri" panose="020F0502020204030204" pitchFamily="34" charset="0"/>
              </a:rPr>
              <a:t>.</a:t>
            </a:r>
          </a:p>
          <a:p>
            <a:endParaRPr lang="en-IN" dirty="0">
              <a:latin typeface="Bahnschrift Condensed" panose="020B0502040204020203" pitchFamily="34" charset="0"/>
            </a:endParaRPr>
          </a:p>
        </p:txBody>
      </p:sp>
      <p:pic>
        <p:nvPicPr>
          <p:cNvPr id="4" name="Picture 3">
            <a:extLst>
              <a:ext uri="{FF2B5EF4-FFF2-40B4-BE49-F238E27FC236}">
                <a16:creationId xmlns:a16="http://schemas.microsoft.com/office/drawing/2014/main" id="{07887FEE-593C-092A-A57A-94C202F64532}"/>
              </a:ext>
            </a:extLst>
          </p:cNvPr>
          <p:cNvPicPr>
            <a:picLocks noChangeAspect="1"/>
          </p:cNvPicPr>
          <p:nvPr/>
        </p:nvPicPr>
        <p:blipFill>
          <a:blip r:embed="rId2"/>
          <a:stretch>
            <a:fillRect/>
          </a:stretch>
        </p:blipFill>
        <p:spPr>
          <a:xfrm>
            <a:off x="8681884" y="5102942"/>
            <a:ext cx="3510116" cy="1755058"/>
          </a:xfrm>
          <a:prstGeom prst="rect">
            <a:avLst/>
          </a:prstGeom>
        </p:spPr>
      </p:pic>
      <p:pic>
        <p:nvPicPr>
          <p:cNvPr id="5" name="Picture 4">
            <a:extLst>
              <a:ext uri="{FF2B5EF4-FFF2-40B4-BE49-F238E27FC236}">
                <a16:creationId xmlns:a16="http://schemas.microsoft.com/office/drawing/2014/main" id="{F9D2FEC9-8455-874D-46FC-9108C242E6A9}"/>
              </a:ext>
            </a:extLst>
          </p:cNvPr>
          <p:cNvPicPr>
            <a:picLocks noChangeAspect="1"/>
          </p:cNvPicPr>
          <p:nvPr/>
        </p:nvPicPr>
        <p:blipFill>
          <a:blip r:embed="rId3"/>
          <a:stretch>
            <a:fillRect/>
          </a:stretch>
        </p:blipFill>
        <p:spPr>
          <a:xfrm>
            <a:off x="9645445" y="16762"/>
            <a:ext cx="2470508" cy="2100078"/>
          </a:xfrm>
          <a:prstGeom prst="rect">
            <a:avLst/>
          </a:prstGeom>
        </p:spPr>
      </p:pic>
    </p:spTree>
    <p:extLst>
      <p:ext uri="{BB962C8B-B14F-4D97-AF65-F5344CB8AC3E}">
        <p14:creationId xmlns:p14="http://schemas.microsoft.com/office/powerpoint/2010/main" val="26557863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8EEF2-609E-4FFF-B05A-BB41E6524EDA}"/>
              </a:ext>
            </a:extLst>
          </p:cNvPr>
          <p:cNvSpPr>
            <a:spLocks noGrp="1"/>
          </p:cNvSpPr>
          <p:nvPr>
            <p:ph type="title"/>
          </p:nvPr>
        </p:nvSpPr>
        <p:spPr>
          <a:xfrm>
            <a:off x="1874467" y="896253"/>
            <a:ext cx="8911687" cy="1280890"/>
          </a:xfrm>
        </p:spPr>
        <p:txBody>
          <a:bodyPr>
            <a:normAutofit/>
          </a:bodyPr>
          <a:lstStyle/>
          <a:p>
            <a:r>
              <a:rPr lang="en-US" sz="4000" dirty="0">
                <a:latin typeface="Arial" panose="020B0604020202020204" pitchFamily="34" charset="0"/>
                <a:cs typeface="Arial" panose="020B0604020202020204" pitchFamily="34" charset="0"/>
              </a:rPr>
              <a:t>Problem Statement</a:t>
            </a:r>
            <a:endParaRPr lang="en-IN" sz="40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2157722A-E12E-42A5-CC58-C4FA2410C79A}"/>
              </a:ext>
            </a:extLst>
          </p:cNvPr>
          <p:cNvSpPr>
            <a:spLocks noGrp="1"/>
          </p:cNvSpPr>
          <p:nvPr>
            <p:ph sz="quarter" idx="13"/>
          </p:nvPr>
        </p:nvSpPr>
        <p:spPr>
          <a:xfrm>
            <a:off x="914087" y="2177143"/>
            <a:ext cx="10363826" cy="3424107"/>
          </a:xfrm>
        </p:spPr>
        <p:txBody>
          <a:bodyPr>
            <a:normAutofit fontScale="70000" lnSpcReduction="20000"/>
          </a:bodyPr>
          <a:lstStyle/>
          <a:p>
            <a:pPr algn="l">
              <a:buNone/>
            </a:pPr>
            <a:r>
              <a:rPr lang="en-US" sz="2100" b="1" i="0" dirty="0">
                <a:solidFill>
                  <a:srgbClr val="000000"/>
                </a:solidFill>
                <a:effectLst/>
                <a:latin typeface="Arial" panose="020B0604020202020204" pitchFamily="34" charset="0"/>
                <a:cs typeface="Arial" panose="020B0604020202020204" pitchFamily="34" charset="0"/>
              </a:rPr>
              <a:t>	Mitron Bank</a:t>
            </a:r>
            <a:r>
              <a:rPr lang="en-US" sz="2100" b="0" i="0" dirty="0">
                <a:solidFill>
                  <a:srgbClr val="000000"/>
                </a:solidFill>
                <a:effectLst/>
                <a:latin typeface="Arial" panose="020B0604020202020204" pitchFamily="34" charset="0"/>
                <a:cs typeface="Arial" panose="020B0604020202020204" pitchFamily="34" charset="0"/>
              </a:rPr>
              <a:t> is a legacy financial institution headquartered in Hyderabad. They want to introduce a new line of credit cards, aiming to broaden its product offerings and reach in the financial market. </a:t>
            </a:r>
          </a:p>
          <a:p>
            <a:pPr algn="l">
              <a:buNone/>
            </a:pPr>
            <a:br>
              <a:rPr lang="en-US" sz="2100" b="1" i="0" dirty="0">
                <a:solidFill>
                  <a:srgbClr val="000000"/>
                </a:solidFill>
                <a:effectLst/>
                <a:latin typeface="Arial" panose="020B0604020202020204" pitchFamily="34" charset="0"/>
                <a:cs typeface="Arial" panose="020B0604020202020204" pitchFamily="34" charset="0"/>
              </a:rPr>
            </a:br>
            <a:r>
              <a:rPr lang="en-US" sz="2100" b="1" i="0" dirty="0" err="1">
                <a:solidFill>
                  <a:srgbClr val="000000"/>
                </a:solidFill>
                <a:effectLst/>
                <a:latin typeface="Arial" panose="020B0604020202020204" pitchFamily="34" charset="0"/>
                <a:cs typeface="Arial" panose="020B0604020202020204" pitchFamily="34" charset="0"/>
              </a:rPr>
              <a:t>AtliQ</a:t>
            </a:r>
            <a:r>
              <a:rPr lang="en-US" sz="2100" b="1" i="0" dirty="0">
                <a:solidFill>
                  <a:srgbClr val="000000"/>
                </a:solidFill>
                <a:effectLst/>
                <a:latin typeface="Arial" panose="020B0604020202020204" pitchFamily="34" charset="0"/>
                <a:cs typeface="Arial" panose="020B0604020202020204" pitchFamily="34" charset="0"/>
              </a:rPr>
              <a:t> Data Services</a:t>
            </a:r>
            <a:r>
              <a:rPr lang="en-US" sz="2100" b="0" i="0" dirty="0">
                <a:solidFill>
                  <a:srgbClr val="000000"/>
                </a:solidFill>
                <a:effectLst/>
                <a:latin typeface="Arial" panose="020B0604020202020204" pitchFamily="34" charset="0"/>
                <a:cs typeface="Arial" panose="020B0604020202020204" pitchFamily="34" charset="0"/>
              </a:rPr>
              <a:t> came to know about this through an internal link and approached Mitron Bank with a proposal to implement this project. However, the strategy director of Mitron Bank, Mr. </a:t>
            </a:r>
            <a:r>
              <a:rPr lang="en-US" sz="2100" b="0" i="0" dirty="0" err="1">
                <a:solidFill>
                  <a:srgbClr val="000000"/>
                </a:solidFill>
                <a:effectLst/>
                <a:latin typeface="Arial" panose="020B0604020202020204" pitchFamily="34" charset="0"/>
                <a:cs typeface="Arial" panose="020B0604020202020204" pitchFamily="34" charset="0"/>
              </a:rPr>
              <a:t>Bashnir</a:t>
            </a:r>
            <a:r>
              <a:rPr lang="en-US" sz="2100" b="0" i="0" dirty="0">
                <a:solidFill>
                  <a:srgbClr val="000000"/>
                </a:solidFill>
                <a:effectLst/>
                <a:latin typeface="Arial" panose="020B0604020202020204" pitchFamily="34" charset="0"/>
                <a:cs typeface="Arial" panose="020B0604020202020204" pitchFamily="34" charset="0"/>
              </a:rPr>
              <a:t> Rover is skeptical and asked them to do a pilot project with the sample data before handing over them the full project. They provided a sample dataset of 4000 customers across five cities on their online spending and other details. </a:t>
            </a:r>
          </a:p>
          <a:p>
            <a:pPr algn="l">
              <a:buNone/>
            </a:pPr>
            <a:br>
              <a:rPr lang="en-US" sz="2100" b="0" i="0" dirty="0">
                <a:solidFill>
                  <a:srgbClr val="000000"/>
                </a:solidFill>
                <a:effectLst/>
                <a:latin typeface="Arial" panose="020B0604020202020204" pitchFamily="34" charset="0"/>
                <a:cs typeface="Arial" panose="020B0604020202020204" pitchFamily="34" charset="0"/>
              </a:rPr>
            </a:br>
            <a:r>
              <a:rPr lang="en-US" sz="2100" b="0" i="0" dirty="0">
                <a:solidFill>
                  <a:srgbClr val="000000"/>
                </a:solidFill>
                <a:effectLst/>
                <a:latin typeface="Arial" panose="020B0604020202020204" pitchFamily="34" charset="0"/>
                <a:cs typeface="Arial" panose="020B0604020202020204" pitchFamily="34" charset="0"/>
              </a:rPr>
              <a:t>Peter Pandey is a data analyst at </a:t>
            </a:r>
            <a:r>
              <a:rPr lang="en-US" sz="2100" b="0" i="0" dirty="0" err="1">
                <a:solidFill>
                  <a:srgbClr val="000000"/>
                </a:solidFill>
                <a:effectLst/>
                <a:latin typeface="Arial" panose="020B0604020202020204" pitchFamily="34" charset="0"/>
                <a:cs typeface="Arial" panose="020B0604020202020204" pitchFamily="34" charset="0"/>
              </a:rPr>
              <a:t>AtliQ</a:t>
            </a:r>
            <a:r>
              <a:rPr lang="en-US" sz="2100" b="0" i="0" dirty="0">
                <a:solidFill>
                  <a:srgbClr val="000000"/>
                </a:solidFill>
                <a:effectLst/>
                <a:latin typeface="Arial" panose="020B0604020202020204" pitchFamily="34" charset="0"/>
                <a:cs typeface="Arial" panose="020B0604020202020204" pitchFamily="34" charset="0"/>
              </a:rPr>
              <a:t> Data Services and was asked by his manager to take over this project. His role is to </a:t>
            </a:r>
            <a:r>
              <a:rPr lang="en-US" sz="2100" b="0" i="0" dirty="0" err="1">
                <a:solidFill>
                  <a:srgbClr val="000000"/>
                </a:solidFill>
                <a:effectLst/>
                <a:latin typeface="Arial" panose="020B0604020202020204" pitchFamily="34" charset="0"/>
                <a:cs typeface="Arial" panose="020B0604020202020204" pitchFamily="34" charset="0"/>
              </a:rPr>
              <a:t>analyse</a:t>
            </a:r>
            <a:r>
              <a:rPr lang="en-US" sz="2100" b="0" i="0" dirty="0">
                <a:solidFill>
                  <a:srgbClr val="000000"/>
                </a:solidFill>
                <a:effectLst/>
                <a:latin typeface="Arial" panose="020B0604020202020204" pitchFamily="34" charset="0"/>
                <a:cs typeface="Arial" panose="020B0604020202020204" pitchFamily="34" charset="0"/>
              </a:rPr>
              <a:t> the provided sample data and report key findings to the strategy team of Mitron Bank. This analysis is expected to guide them in tailoring the credit cards to customer needs and market trends. </a:t>
            </a:r>
          </a:p>
          <a:p>
            <a:pPr algn="l"/>
            <a:br>
              <a:rPr lang="en-US" sz="2100" b="0" i="0" dirty="0">
                <a:solidFill>
                  <a:srgbClr val="000000"/>
                </a:solidFill>
                <a:effectLst/>
                <a:latin typeface="Arial" panose="020B0604020202020204" pitchFamily="34" charset="0"/>
                <a:cs typeface="Arial" panose="020B0604020202020204" pitchFamily="34" charset="0"/>
              </a:rPr>
            </a:br>
            <a:r>
              <a:rPr lang="en-US" sz="2100" b="0" i="0" dirty="0">
                <a:solidFill>
                  <a:srgbClr val="000000"/>
                </a:solidFill>
                <a:effectLst/>
                <a:latin typeface="Arial" panose="020B0604020202020204" pitchFamily="34" charset="0"/>
                <a:cs typeface="Arial" panose="020B0604020202020204" pitchFamily="34" charset="0"/>
              </a:rPr>
              <a:t>The successful acquisition of this project depends on Peter's ability to provide actionable, data-driven recommendations and impress Mr. </a:t>
            </a:r>
            <a:r>
              <a:rPr lang="en-US" sz="2100" b="0" i="0" dirty="0" err="1">
                <a:solidFill>
                  <a:srgbClr val="000000"/>
                </a:solidFill>
                <a:effectLst/>
                <a:latin typeface="Arial" panose="020B0604020202020204" pitchFamily="34" charset="0"/>
                <a:cs typeface="Arial" panose="020B0604020202020204" pitchFamily="34" charset="0"/>
              </a:rPr>
              <a:t>Bashnir</a:t>
            </a:r>
            <a:r>
              <a:rPr lang="en-US" sz="2100" b="0" i="0" dirty="0">
                <a:solidFill>
                  <a:srgbClr val="000000"/>
                </a:solidFill>
                <a:effectLst/>
                <a:latin typeface="Arial" panose="020B0604020202020204" pitchFamily="34" charset="0"/>
                <a:cs typeface="Arial" panose="020B0604020202020204" pitchFamily="34" charset="0"/>
              </a:rPr>
              <a:t> Rover &amp; his team. Peter requested support from his manager Tony Sharma, and he provided him with some ideas to generate insights based on the data provided. </a:t>
            </a:r>
          </a:p>
          <a:p>
            <a:pPr marL="0" indent="0">
              <a:buNone/>
            </a:pPr>
            <a:endParaRPr lang="en-IN" dirty="0"/>
          </a:p>
        </p:txBody>
      </p:sp>
    </p:spTree>
    <p:extLst>
      <p:ext uri="{BB962C8B-B14F-4D97-AF65-F5344CB8AC3E}">
        <p14:creationId xmlns:p14="http://schemas.microsoft.com/office/powerpoint/2010/main" val="22759535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994BF-A22C-A90C-7B07-943E77659E56}"/>
              </a:ext>
            </a:extLst>
          </p:cNvPr>
          <p:cNvSpPr>
            <a:spLocks noGrp="1"/>
          </p:cNvSpPr>
          <p:nvPr>
            <p:ph type="title"/>
          </p:nvPr>
        </p:nvSpPr>
        <p:spPr>
          <a:xfrm>
            <a:off x="1307691" y="665897"/>
            <a:ext cx="6366737" cy="792789"/>
          </a:xfrm>
        </p:spPr>
        <p:txBody>
          <a:bodyPr>
            <a:normAutofit fontScale="90000"/>
          </a:bodyPr>
          <a:lstStyle/>
          <a:p>
            <a:r>
              <a:rPr lang="en-US" sz="4000" dirty="0">
                <a:latin typeface="Arial" panose="020B0604020202020204" pitchFamily="34" charset="0"/>
                <a:cs typeface="Arial" panose="020B0604020202020204" pitchFamily="34" charset="0"/>
              </a:rPr>
              <a:t>Customer Spending overview</a:t>
            </a:r>
            <a:endParaRPr lang="en-IN" sz="4000" dirty="0">
              <a:latin typeface="Arial" panose="020B0604020202020204" pitchFamily="34" charset="0"/>
              <a:cs typeface="Arial" panose="020B0604020202020204" pitchFamily="34" charset="0"/>
            </a:endParaRPr>
          </a:p>
        </p:txBody>
      </p:sp>
      <p:pic>
        <p:nvPicPr>
          <p:cNvPr id="6" name="Content Placeholder 5" descr="A screenshot of a computer&#10;&#10;AI-generated content may be incorrect.">
            <a:extLst>
              <a:ext uri="{FF2B5EF4-FFF2-40B4-BE49-F238E27FC236}">
                <a16:creationId xmlns:a16="http://schemas.microsoft.com/office/drawing/2014/main" id="{1ECDA23D-4727-60A5-B749-6E0CCC6BE4B9}"/>
              </a:ext>
            </a:extLst>
          </p:cNvPr>
          <p:cNvPicPr>
            <a:picLocks noGrp="1" noChangeAspect="1"/>
          </p:cNvPicPr>
          <p:nvPr>
            <p:ph sz="quarter" idx="13"/>
          </p:nvPr>
        </p:nvPicPr>
        <p:blipFill>
          <a:blip r:embed="rId2"/>
          <a:stretch>
            <a:fillRect/>
          </a:stretch>
        </p:blipFill>
        <p:spPr>
          <a:xfrm>
            <a:off x="1307691" y="1931650"/>
            <a:ext cx="6845710" cy="4643321"/>
          </a:xfrm>
          <a:prstGeom prst="rect">
            <a:avLst/>
          </a:prstGeom>
        </p:spPr>
      </p:pic>
      <p:sp>
        <p:nvSpPr>
          <p:cNvPr id="8" name="TextBox 7">
            <a:extLst>
              <a:ext uri="{FF2B5EF4-FFF2-40B4-BE49-F238E27FC236}">
                <a16:creationId xmlns:a16="http://schemas.microsoft.com/office/drawing/2014/main" id="{7FAC3267-C540-FA5F-C924-FAC940A64E6B}"/>
              </a:ext>
            </a:extLst>
          </p:cNvPr>
          <p:cNvSpPr txBox="1"/>
          <p:nvPr/>
        </p:nvSpPr>
        <p:spPr>
          <a:xfrm>
            <a:off x="8349343" y="1931650"/>
            <a:ext cx="3690257" cy="4057008"/>
          </a:xfrm>
          <a:prstGeom prst="rect">
            <a:avLst/>
          </a:prstGeom>
          <a:noFill/>
        </p:spPr>
        <p:txBody>
          <a:bodyPr wrap="square">
            <a:spAutoFit/>
          </a:bodyPr>
          <a:lstStyle/>
          <a:p>
            <a:pPr marL="342900" lvl="0" indent="-342900">
              <a:lnSpc>
                <a:spcPct val="115000"/>
              </a:lnSpc>
              <a:spcAft>
                <a:spcPts val="800"/>
              </a:spcAft>
              <a:buSzPts val="1000"/>
              <a:buFont typeface="Symbol" panose="05050102010706020507" pitchFamily="18" charset="2"/>
              <a:buChar char=""/>
              <a:tabLst>
                <a:tab pos="457200" algn="l"/>
              </a:tabLst>
            </a:pPr>
            <a:r>
              <a:rPr lang="en-IN" sz="1600" b="1" kern="100" dirty="0">
                <a:effectLst/>
                <a:latin typeface="Arial" panose="020B0604020202020204" pitchFamily="34" charset="0"/>
                <a:ea typeface="Aptos" panose="020B0004020202020204" pitchFamily="34" charset="0"/>
                <a:cs typeface="Arial" panose="020B0604020202020204" pitchFamily="34" charset="0"/>
              </a:rPr>
              <a:t>Total customer spend stands at 531M</a:t>
            </a:r>
            <a:r>
              <a:rPr lang="en-IN" sz="1600" kern="100" dirty="0">
                <a:effectLst/>
                <a:latin typeface="Arial" panose="020B0604020202020204" pitchFamily="34" charset="0"/>
                <a:ea typeface="Aptos" panose="020B0004020202020204" pitchFamily="34" charset="0"/>
                <a:cs typeface="Arial" panose="020B0604020202020204" pitchFamily="34" charset="0"/>
              </a:rPr>
              <a:t>, indicating strong overall spending activity</a:t>
            </a:r>
          </a:p>
          <a:p>
            <a:pPr marL="342900" lvl="0" indent="-342900">
              <a:lnSpc>
                <a:spcPct val="115000"/>
              </a:lnSpc>
              <a:spcAft>
                <a:spcPts val="800"/>
              </a:spcAft>
              <a:buSzPts val="1000"/>
              <a:buFont typeface="Symbol" panose="05050102010706020507" pitchFamily="18" charset="2"/>
              <a:buChar char=""/>
              <a:tabLst>
                <a:tab pos="457200" algn="l"/>
              </a:tabLst>
            </a:pPr>
            <a:r>
              <a:rPr lang="en-IN" sz="1600" b="1" kern="100" dirty="0">
                <a:effectLst/>
                <a:latin typeface="Arial" panose="020B0604020202020204" pitchFamily="34" charset="0"/>
                <a:ea typeface="Aptos" panose="020B0004020202020204" pitchFamily="34" charset="0"/>
                <a:cs typeface="Arial" panose="020B0604020202020204" pitchFamily="34" charset="0"/>
              </a:rPr>
              <a:t>Spending is highly skewed</a:t>
            </a:r>
            <a:r>
              <a:rPr lang="en-IN" sz="1600" kern="100" dirty="0">
                <a:effectLst/>
                <a:latin typeface="Arial" panose="020B0604020202020204" pitchFamily="34" charset="0"/>
                <a:ea typeface="Aptos" panose="020B0004020202020204" pitchFamily="34" charset="0"/>
                <a:cs typeface="Arial" panose="020B0604020202020204" pitchFamily="34" charset="0"/>
              </a:rPr>
              <a:t>, with a small set of categories driving most of the value</a:t>
            </a:r>
          </a:p>
          <a:p>
            <a:pPr marL="342900" lvl="0" indent="-342900">
              <a:lnSpc>
                <a:spcPct val="115000"/>
              </a:lnSpc>
              <a:spcAft>
                <a:spcPts val="800"/>
              </a:spcAft>
              <a:buSzPts val="1000"/>
              <a:buFont typeface="Symbol" panose="05050102010706020507" pitchFamily="18" charset="2"/>
              <a:buChar char=""/>
              <a:tabLst>
                <a:tab pos="457200" algn="l"/>
              </a:tabLst>
            </a:pPr>
            <a:r>
              <a:rPr lang="en-IN" sz="1600" b="1" kern="100" dirty="0">
                <a:effectLst/>
                <a:latin typeface="Arial" panose="020B0604020202020204" pitchFamily="34" charset="0"/>
                <a:ea typeface="Aptos" panose="020B0004020202020204" pitchFamily="34" charset="0"/>
                <a:cs typeface="Arial" panose="020B0604020202020204" pitchFamily="34" charset="0"/>
              </a:rPr>
              <a:t>Customer base spans wide income ranges</a:t>
            </a:r>
            <a:r>
              <a:rPr lang="en-IN" sz="1600" kern="100" dirty="0">
                <a:effectLst/>
                <a:latin typeface="Arial" panose="020B0604020202020204" pitchFamily="34" charset="0"/>
                <a:ea typeface="Aptos" panose="020B0004020202020204" pitchFamily="34" charset="0"/>
                <a:cs typeface="Arial" panose="020B0604020202020204" pitchFamily="34" charset="0"/>
              </a:rPr>
              <a:t>, showing a diversified but fragmented income profile</a:t>
            </a:r>
          </a:p>
          <a:p>
            <a:pPr marL="342900" lvl="0" indent="-342900">
              <a:lnSpc>
                <a:spcPct val="115000"/>
              </a:lnSpc>
              <a:spcAft>
                <a:spcPts val="800"/>
              </a:spcAft>
              <a:buSzPts val="1000"/>
              <a:buFont typeface="Symbol" panose="05050102010706020507" pitchFamily="18" charset="2"/>
              <a:buChar char=""/>
              <a:tabLst>
                <a:tab pos="457200" algn="l"/>
              </a:tabLst>
            </a:pPr>
            <a:r>
              <a:rPr lang="en-IN" sz="1600" kern="100" dirty="0">
                <a:effectLst/>
                <a:latin typeface="Arial" panose="020B0604020202020204" pitchFamily="34" charset="0"/>
                <a:ea typeface="Aptos" panose="020B0004020202020204" pitchFamily="34" charset="0"/>
                <a:cs typeface="Arial" panose="020B0604020202020204" pitchFamily="34" charset="0"/>
              </a:rPr>
              <a:t>High-frequency low-value spends dominate, highlighting </a:t>
            </a:r>
            <a:r>
              <a:rPr lang="en-IN" sz="1600" b="1" kern="100" dirty="0">
                <a:effectLst/>
                <a:latin typeface="Arial" panose="020B0604020202020204" pitchFamily="34" charset="0"/>
                <a:ea typeface="Aptos" panose="020B0004020202020204" pitchFamily="34" charset="0"/>
                <a:cs typeface="Arial" panose="020B0604020202020204" pitchFamily="34" charset="0"/>
              </a:rPr>
              <a:t>volume-led consumption behaviour</a:t>
            </a:r>
            <a:endParaRPr lang="en-IN" sz="1600" kern="100" dirty="0">
              <a:effectLst/>
              <a:latin typeface="Arial" panose="020B06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29768750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B0B85-053D-DEFB-4993-0664BFAEA2DD}"/>
              </a:ext>
            </a:extLst>
          </p:cNvPr>
          <p:cNvSpPr>
            <a:spLocks noGrp="1"/>
          </p:cNvSpPr>
          <p:nvPr>
            <p:ph type="title"/>
          </p:nvPr>
        </p:nvSpPr>
        <p:spPr>
          <a:xfrm>
            <a:off x="913774" y="732967"/>
            <a:ext cx="10363826" cy="1280890"/>
          </a:xfrm>
        </p:spPr>
        <p:txBody>
          <a:bodyPr>
            <a:noAutofit/>
          </a:bodyPr>
          <a:lstStyle/>
          <a:p>
            <a:r>
              <a:rPr lang="en-IN" dirty="0">
                <a:effectLst/>
                <a:latin typeface="Arial" panose="020B0604020202020204" pitchFamily="34" charset="0"/>
                <a:ea typeface="Aptos" panose="020B0004020202020204" pitchFamily="34" charset="0"/>
                <a:cs typeface="Arial" panose="020B0604020202020204" pitchFamily="34" charset="0"/>
              </a:rPr>
              <a:t>Customer Demographics &amp; Spending Patterns</a:t>
            </a:r>
            <a:endParaRPr lang="en-IN" dirty="0">
              <a:latin typeface="Arial" panose="020B0604020202020204" pitchFamily="34" charset="0"/>
              <a:cs typeface="Arial" panose="020B0604020202020204" pitchFamily="34" charset="0"/>
            </a:endParaRPr>
          </a:p>
        </p:txBody>
      </p:sp>
      <p:pic>
        <p:nvPicPr>
          <p:cNvPr id="6" name="Content Placeholder 5" descr="A screenshot of a graph&#10;&#10;AI-generated content may be incorrect.">
            <a:extLst>
              <a:ext uri="{FF2B5EF4-FFF2-40B4-BE49-F238E27FC236}">
                <a16:creationId xmlns:a16="http://schemas.microsoft.com/office/drawing/2014/main" id="{CB121D79-4A10-8BBF-6E7D-2246CD80FBD3}"/>
              </a:ext>
            </a:extLst>
          </p:cNvPr>
          <p:cNvPicPr>
            <a:picLocks noGrp="1" noChangeAspect="1"/>
          </p:cNvPicPr>
          <p:nvPr>
            <p:ph sz="quarter" idx="13"/>
          </p:nvPr>
        </p:nvPicPr>
        <p:blipFill>
          <a:blip r:embed="rId2"/>
          <a:stretch>
            <a:fillRect/>
          </a:stretch>
        </p:blipFill>
        <p:spPr>
          <a:xfrm>
            <a:off x="913773" y="1877106"/>
            <a:ext cx="7111250" cy="4686980"/>
          </a:xfrm>
          <a:prstGeom prst="rect">
            <a:avLst/>
          </a:prstGeom>
        </p:spPr>
      </p:pic>
      <p:sp>
        <p:nvSpPr>
          <p:cNvPr id="8" name="TextBox 7">
            <a:extLst>
              <a:ext uri="{FF2B5EF4-FFF2-40B4-BE49-F238E27FC236}">
                <a16:creationId xmlns:a16="http://schemas.microsoft.com/office/drawing/2014/main" id="{A444BCDC-42DA-7E5A-F567-FCC8DAAE177A}"/>
              </a:ext>
            </a:extLst>
          </p:cNvPr>
          <p:cNvSpPr txBox="1"/>
          <p:nvPr/>
        </p:nvSpPr>
        <p:spPr>
          <a:xfrm>
            <a:off x="8033657" y="1877106"/>
            <a:ext cx="3614057" cy="4057008"/>
          </a:xfrm>
          <a:prstGeom prst="rect">
            <a:avLst/>
          </a:prstGeom>
          <a:noFill/>
        </p:spPr>
        <p:txBody>
          <a:bodyPr wrap="square">
            <a:spAutoFit/>
          </a:bodyPr>
          <a:lstStyle/>
          <a:p>
            <a:pPr marL="342900" lvl="0" indent="-342900">
              <a:lnSpc>
                <a:spcPct val="115000"/>
              </a:lnSpc>
              <a:spcAft>
                <a:spcPts val="800"/>
              </a:spcAft>
              <a:buSzPts val="1000"/>
              <a:buFont typeface="Symbol" panose="05050102010706020507" pitchFamily="18" charset="2"/>
              <a:buChar char=""/>
              <a:tabLst>
                <a:tab pos="457200" algn="l"/>
              </a:tabLst>
            </a:pPr>
            <a:r>
              <a:rPr lang="en-IN" sz="1600" b="1" kern="100" dirty="0">
                <a:effectLst/>
                <a:latin typeface="Arial" panose="020B0604020202020204" pitchFamily="34" charset="0"/>
                <a:ea typeface="Aptos" panose="020B0004020202020204" pitchFamily="34" charset="0"/>
                <a:cs typeface="Arial" panose="020B0604020202020204" pitchFamily="34" charset="0"/>
              </a:rPr>
              <a:t>25–34 age group leads</a:t>
            </a:r>
            <a:r>
              <a:rPr lang="en-IN" sz="1600" kern="100" dirty="0">
                <a:effectLst/>
                <a:latin typeface="Arial" panose="020B0604020202020204" pitchFamily="34" charset="0"/>
                <a:ea typeface="Aptos" panose="020B0004020202020204" pitchFamily="34" charset="0"/>
                <a:cs typeface="Arial" panose="020B0604020202020204" pitchFamily="34" charset="0"/>
              </a:rPr>
              <a:t> in both customer count and total spend, followed by </a:t>
            </a:r>
            <a:r>
              <a:rPr lang="en-IN" sz="1600" b="1" kern="100" dirty="0">
                <a:effectLst/>
                <a:latin typeface="Arial" panose="020B0604020202020204" pitchFamily="34" charset="0"/>
                <a:ea typeface="Aptos" panose="020B0004020202020204" pitchFamily="34" charset="0"/>
                <a:cs typeface="Arial" panose="020B0604020202020204" pitchFamily="34" charset="0"/>
              </a:rPr>
              <a:t>35–45</a:t>
            </a:r>
            <a:endParaRPr lang="en-IN" sz="1600" kern="100" dirty="0">
              <a:effectLst/>
              <a:latin typeface="Arial" panose="020B0604020202020204" pitchFamily="34" charset="0"/>
              <a:ea typeface="Aptos" panose="020B0004020202020204" pitchFamily="34" charset="0"/>
              <a:cs typeface="Arial" panose="020B0604020202020204" pitchFamily="34"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IN" sz="1600" b="1" kern="100" dirty="0">
                <a:effectLst/>
                <a:latin typeface="Arial" panose="020B0604020202020204" pitchFamily="34" charset="0"/>
                <a:ea typeface="Aptos" panose="020B0004020202020204" pitchFamily="34" charset="0"/>
                <a:cs typeface="Arial" panose="020B0604020202020204" pitchFamily="34" charset="0"/>
              </a:rPr>
              <a:t>Bills, Groceries, and Electronics</a:t>
            </a:r>
            <a:r>
              <a:rPr lang="en-IN" sz="1600" kern="100" dirty="0">
                <a:effectLst/>
                <a:latin typeface="Arial" panose="020B0604020202020204" pitchFamily="34" charset="0"/>
                <a:ea typeface="Aptos" panose="020B0004020202020204" pitchFamily="34" charset="0"/>
                <a:cs typeface="Arial" panose="020B0604020202020204" pitchFamily="34" charset="0"/>
              </a:rPr>
              <a:t> are the top spending categories</a:t>
            </a:r>
          </a:p>
          <a:p>
            <a:pPr marL="342900" lvl="0" indent="-342900">
              <a:lnSpc>
                <a:spcPct val="115000"/>
              </a:lnSpc>
              <a:spcAft>
                <a:spcPts val="800"/>
              </a:spcAft>
              <a:buSzPts val="1000"/>
              <a:buFont typeface="Symbol" panose="05050102010706020507" pitchFamily="18" charset="2"/>
              <a:buChar char=""/>
              <a:tabLst>
                <a:tab pos="457200" algn="l"/>
              </a:tabLst>
            </a:pPr>
            <a:r>
              <a:rPr lang="en-IN" sz="1600" kern="100" dirty="0">
                <a:effectLst/>
                <a:latin typeface="Arial" panose="020B0604020202020204" pitchFamily="34" charset="0"/>
                <a:ea typeface="Aptos" panose="020B0004020202020204" pitchFamily="34" charset="0"/>
                <a:cs typeface="Arial" panose="020B0604020202020204" pitchFamily="34" charset="0"/>
              </a:rPr>
              <a:t>Younger customers (21–24) show </a:t>
            </a:r>
            <a:r>
              <a:rPr lang="en-IN" sz="1600" b="1" kern="100" dirty="0">
                <a:effectLst/>
                <a:latin typeface="Arial" panose="020B0604020202020204" pitchFamily="34" charset="0"/>
                <a:ea typeface="Aptos" panose="020B0004020202020204" pitchFamily="34" charset="0"/>
                <a:cs typeface="Arial" panose="020B0604020202020204" pitchFamily="34" charset="0"/>
              </a:rPr>
              <a:t>lower spend intensity</a:t>
            </a:r>
            <a:r>
              <a:rPr lang="en-IN" sz="1600" kern="100" dirty="0">
                <a:effectLst/>
                <a:latin typeface="Arial" panose="020B0604020202020204" pitchFamily="34" charset="0"/>
                <a:ea typeface="Aptos" panose="020B0004020202020204" pitchFamily="34" charset="0"/>
                <a:cs typeface="Arial" panose="020B0604020202020204" pitchFamily="34" charset="0"/>
              </a:rPr>
              <a:t>, while </a:t>
            </a:r>
            <a:r>
              <a:rPr lang="en-IN" sz="1600" b="1" kern="100" dirty="0">
                <a:effectLst/>
                <a:latin typeface="Arial" panose="020B0604020202020204" pitchFamily="34" charset="0"/>
                <a:ea typeface="Aptos" panose="020B0004020202020204" pitchFamily="34" charset="0"/>
                <a:cs typeface="Arial" panose="020B0604020202020204" pitchFamily="34" charset="0"/>
              </a:rPr>
              <a:t>45+</a:t>
            </a:r>
            <a:r>
              <a:rPr lang="en-IN" sz="1600" kern="100" dirty="0">
                <a:effectLst/>
                <a:latin typeface="Arial" panose="020B0604020202020204" pitchFamily="34" charset="0"/>
                <a:ea typeface="Aptos" panose="020B0004020202020204" pitchFamily="34" charset="0"/>
                <a:cs typeface="Arial" panose="020B0604020202020204" pitchFamily="34" charset="0"/>
              </a:rPr>
              <a:t> is smaller but stable</a:t>
            </a:r>
          </a:p>
          <a:p>
            <a:pPr marL="342900" lvl="0" indent="-342900">
              <a:lnSpc>
                <a:spcPct val="115000"/>
              </a:lnSpc>
              <a:spcAft>
                <a:spcPts val="800"/>
              </a:spcAft>
              <a:buSzPts val="1000"/>
              <a:buFont typeface="Symbol" panose="05050102010706020507" pitchFamily="18" charset="2"/>
              <a:buChar char=""/>
              <a:tabLst>
                <a:tab pos="457200" algn="l"/>
              </a:tabLst>
            </a:pPr>
            <a:r>
              <a:rPr lang="en-IN" sz="1600" kern="100" dirty="0">
                <a:effectLst/>
                <a:latin typeface="Arial" panose="020B0604020202020204" pitchFamily="34" charset="0"/>
                <a:ea typeface="Aptos" panose="020B0004020202020204" pitchFamily="34" charset="0"/>
                <a:cs typeface="Arial" panose="020B0604020202020204" pitchFamily="34" charset="0"/>
              </a:rPr>
              <a:t>Spending is driven by </a:t>
            </a:r>
            <a:r>
              <a:rPr lang="en-IN" sz="1600" b="1" kern="100" dirty="0">
                <a:effectLst/>
                <a:latin typeface="Arial" panose="020B0604020202020204" pitchFamily="34" charset="0"/>
                <a:ea typeface="Aptos" panose="020B0004020202020204" pitchFamily="34" charset="0"/>
                <a:cs typeface="Arial" panose="020B0604020202020204" pitchFamily="34" charset="0"/>
              </a:rPr>
              <a:t>working-age urban customers</a:t>
            </a:r>
            <a:r>
              <a:rPr lang="en-IN" sz="1600" kern="100" dirty="0">
                <a:effectLst/>
                <a:latin typeface="Arial" panose="020B0604020202020204" pitchFamily="34" charset="0"/>
                <a:ea typeface="Aptos" panose="020B0004020202020204" pitchFamily="34" charset="0"/>
                <a:cs typeface="Arial" panose="020B0604020202020204" pitchFamily="34" charset="0"/>
              </a:rPr>
              <a:t>, indicating strong lifestyle and utility-led usage</a:t>
            </a:r>
          </a:p>
        </p:txBody>
      </p:sp>
    </p:spTree>
    <p:extLst>
      <p:ext uri="{BB962C8B-B14F-4D97-AF65-F5344CB8AC3E}">
        <p14:creationId xmlns:p14="http://schemas.microsoft.com/office/powerpoint/2010/main" val="17709689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1EFC27-E5AC-8A8E-9780-C2A7086C8D3F}"/>
              </a:ext>
            </a:extLst>
          </p:cNvPr>
          <p:cNvSpPr>
            <a:spLocks noGrp="1"/>
          </p:cNvSpPr>
          <p:nvPr>
            <p:ph type="title"/>
          </p:nvPr>
        </p:nvSpPr>
        <p:spPr>
          <a:xfrm>
            <a:off x="1338944" y="624110"/>
            <a:ext cx="10635342" cy="1280890"/>
          </a:xfrm>
        </p:spPr>
        <p:txBody>
          <a:bodyPr>
            <a:noAutofit/>
          </a:bodyPr>
          <a:lstStyle/>
          <a:p>
            <a:r>
              <a:rPr lang="en-IN" sz="4000" dirty="0">
                <a:effectLst/>
                <a:latin typeface="Arial" panose="020B0604020202020204" pitchFamily="34" charset="0"/>
                <a:ea typeface="Aptos" panose="020B0004020202020204" pitchFamily="34" charset="0"/>
                <a:cs typeface="Arial" panose="020B0604020202020204" pitchFamily="34" charset="0"/>
              </a:rPr>
              <a:t>Income-Based Spending &amp; Category Insights</a:t>
            </a:r>
            <a:endParaRPr lang="en-IN" sz="4000" dirty="0">
              <a:latin typeface="Arial" panose="020B0604020202020204" pitchFamily="34" charset="0"/>
              <a:cs typeface="Arial" panose="020B0604020202020204" pitchFamily="34" charset="0"/>
            </a:endParaRPr>
          </a:p>
        </p:txBody>
      </p:sp>
      <p:pic>
        <p:nvPicPr>
          <p:cNvPr id="4" name="Content Placeholder 3">
            <a:extLst>
              <a:ext uri="{FF2B5EF4-FFF2-40B4-BE49-F238E27FC236}">
                <a16:creationId xmlns:a16="http://schemas.microsoft.com/office/drawing/2014/main" id="{3EE64322-C228-A06B-7D33-FB09241774DC}"/>
              </a:ext>
            </a:extLst>
          </p:cNvPr>
          <p:cNvPicPr>
            <a:picLocks noGrp="1" noChangeAspect="1"/>
          </p:cNvPicPr>
          <p:nvPr>
            <p:ph sz="quarter" idx="13"/>
          </p:nvPr>
        </p:nvPicPr>
        <p:blipFill>
          <a:blip r:embed="rId2"/>
          <a:stretch>
            <a:fillRect/>
          </a:stretch>
        </p:blipFill>
        <p:spPr>
          <a:xfrm>
            <a:off x="1491343" y="1708356"/>
            <a:ext cx="6495657" cy="4921044"/>
          </a:xfrm>
          <a:prstGeom prst="rect">
            <a:avLst/>
          </a:prstGeom>
        </p:spPr>
      </p:pic>
      <p:sp>
        <p:nvSpPr>
          <p:cNvPr id="6" name="TextBox 5">
            <a:extLst>
              <a:ext uri="{FF2B5EF4-FFF2-40B4-BE49-F238E27FC236}">
                <a16:creationId xmlns:a16="http://schemas.microsoft.com/office/drawing/2014/main" id="{EF1860AB-EF03-649B-E77E-C09529FBDD1F}"/>
              </a:ext>
            </a:extLst>
          </p:cNvPr>
          <p:cNvSpPr txBox="1"/>
          <p:nvPr/>
        </p:nvSpPr>
        <p:spPr>
          <a:xfrm>
            <a:off x="8153399" y="1745456"/>
            <a:ext cx="3820887" cy="3207545"/>
          </a:xfrm>
          <a:prstGeom prst="rect">
            <a:avLst/>
          </a:prstGeom>
          <a:noFill/>
        </p:spPr>
        <p:txBody>
          <a:bodyPr wrap="square">
            <a:spAutoFit/>
          </a:bodyPr>
          <a:lstStyle/>
          <a:p>
            <a:pPr marL="342900" lvl="0" indent="-342900">
              <a:lnSpc>
                <a:spcPct val="115000"/>
              </a:lnSpc>
              <a:spcAft>
                <a:spcPts val="800"/>
              </a:spcAft>
              <a:buSzPts val="1000"/>
              <a:buFont typeface="Symbol" panose="05050102010706020507" pitchFamily="18" charset="2"/>
              <a:buChar char=""/>
              <a:tabLst>
                <a:tab pos="457200" algn="l"/>
              </a:tabLst>
            </a:pPr>
            <a:r>
              <a:rPr lang="en-IN" sz="1600" b="1" kern="100" dirty="0">
                <a:effectLst/>
                <a:latin typeface="Arial" panose="020B0604020202020204" pitchFamily="34" charset="0"/>
                <a:ea typeface="Aptos" panose="020B0004020202020204" pitchFamily="34" charset="0"/>
                <a:cs typeface="Arial" panose="020B0604020202020204" pitchFamily="34" charset="0"/>
              </a:rPr>
              <a:t>Spending increases with income</a:t>
            </a:r>
            <a:r>
              <a:rPr lang="en-IN" sz="1600" kern="100" dirty="0">
                <a:effectLst/>
                <a:latin typeface="Arial" panose="020B0604020202020204" pitchFamily="34" charset="0"/>
                <a:ea typeface="Aptos" panose="020B0004020202020204" pitchFamily="34" charset="0"/>
                <a:cs typeface="Arial" panose="020B0604020202020204" pitchFamily="34" charset="0"/>
              </a:rPr>
              <a:t>, peaking in the </a:t>
            </a:r>
            <a:r>
              <a:rPr lang="en-IN" sz="1600" b="1" kern="100" dirty="0">
                <a:effectLst/>
                <a:latin typeface="Arial" panose="020B0604020202020204" pitchFamily="34" charset="0"/>
                <a:ea typeface="Aptos" panose="020B0004020202020204" pitchFamily="34" charset="0"/>
                <a:cs typeface="Arial" panose="020B0604020202020204" pitchFamily="34" charset="0"/>
              </a:rPr>
              <a:t>₹55K–₹75K</a:t>
            </a:r>
            <a:r>
              <a:rPr lang="en-IN" sz="1600" kern="100" dirty="0">
                <a:effectLst/>
                <a:latin typeface="Arial" panose="020B0604020202020204" pitchFamily="34" charset="0"/>
                <a:ea typeface="Aptos" panose="020B0004020202020204" pitchFamily="34" charset="0"/>
                <a:cs typeface="Arial" panose="020B0604020202020204" pitchFamily="34" charset="0"/>
              </a:rPr>
              <a:t> range</a:t>
            </a:r>
          </a:p>
          <a:p>
            <a:pPr marL="342900" lvl="0" indent="-342900">
              <a:lnSpc>
                <a:spcPct val="115000"/>
              </a:lnSpc>
              <a:spcAft>
                <a:spcPts val="800"/>
              </a:spcAft>
              <a:buSzPts val="1000"/>
              <a:buFont typeface="Symbol" panose="05050102010706020507" pitchFamily="18" charset="2"/>
              <a:buChar char=""/>
              <a:tabLst>
                <a:tab pos="457200" algn="l"/>
              </a:tabLst>
            </a:pPr>
            <a:r>
              <a:rPr lang="en-IN" sz="1600" b="1" kern="100" dirty="0">
                <a:effectLst/>
                <a:latin typeface="Arial" panose="020B0604020202020204" pitchFamily="34" charset="0"/>
                <a:ea typeface="Aptos" panose="020B0004020202020204" pitchFamily="34" charset="0"/>
                <a:cs typeface="Arial" panose="020B0604020202020204" pitchFamily="34" charset="0"/>
              </a:rPr>
              <a:t>Bills and Groceries dominate</a:t>
            </a:r>
            <a:r>
              <a:rPr lang="en-IN" sz="1600" kern="100" dirty="0">
                <a:effectLst/>
                <a:latin typeface="Arial" panose="020B0604020202020204" pitchFamily="34" charset="0"/>
                <a:ea typeface="Aptos" panose="020B0004020202020204" pitchFamily="34" charset="0"/>
                <a:cs typeface="Arial" panose="020B0604020202020204" pitchFamily="34" charset="0"/>
              </a:rPr>
              <a:t> across all income bands, showing essential-led spending</a:t>
            </a:r>
          </a:p>
          <a:p>
            <a:pPr marL="342900" lvl="0" indent="-342900">
              <a:lnSpc>
                <a:spcPct val="115000"/>
              </a:lnSpc>
              <a:spcAft>
                <a:spcPts val="800"/>
              </a:spcAft>
              <a:buSzPts val="1000"/>
              <a:buFont typeface="Symbol" panose="05050102010706020507" pitchFamily="18" charset="2"/>
              <a:buChar char=""/>
              <a:tabLst>
                <a:tab pos="457200" algn="l"/>
              </a:tabLst>
            </a:pPr>
            <a:r>
              <a:rPr lang="en-IN" sz="1600" b="1" kern="100" dirty="0">
                <a:effectLst/>
                <a:latin typeface="Arial" panose="020B0604020202020204" pitchFamily="34" charset="0"/>
                <a:ea typeface="Aptos" panose="020B0004020202020204" pitchFamily="34" charset="0"/>
                <a:cs typeface="Arial" panose="020B0604020202020204" pitchFamily="34" charset="0"/>
              </a:rPr>
              <a:t>Discretionary categories</a:t>
            </a:r>
            <a:r>
              <a:rPr lang="en-IN" sz="1600" kern="100" dirty="0">
                <a:effectLst/>
                <a:latin typeface="Arial" panose="020B0604020202020204" pitchFamily="34" charset="0"/>
                <a:ea typeface="Aptos" panose="020B0004020202020204" pitchFamily="34" charset="0"/>
                <a:cs typeface="Arial" panose="020B0604020202020204" pitchFamily="34" charset="0"/>
              </a:rPr>
              <a:t> (Electronics, Travel, Entertainment) rise sharply at higher incomes</a:t>
            </a:r>
          </a:p>
          <a:p>
            <a:pPr marL="342900" lvl="0" indent="-342900">
              <a:lnSpc>
                <a:spcPct val="115000"/>
              </a:lnSpc>
              <a:spcAft>
                <a:spcPts val="800"/>
              </a:spcAft>
              <a:buSzPts val="1000"/>
              <a:buFont typeface="Symbol" panose="05050102010706020507" pitchFamily="18" charset="2"/>
              <a:buChar char=""/>
              <a:tabLst>
                <a:tab pos="457200" algn="l"/>
              </a:tabLst>
            </a:pPr>
            <a:r>
              <a:rPr lang="en-IN" sz="1600" b="1" kern="100" dirty="0">
                <a:effectLst/>
                <a:latin typeface="Arial" panose="020B0604020202020204" pitchFamily="34" charset="0"/>
                <a:ea typeface="Aptos" panose="020B0004020202020204" pitchFamily="34" charset="0"/>
                <a:cs typeface="Arial" panose="020B0604020202020204" pitchFamily="34" charset="0"/>
              </a:rPr>
              <a:t>Metro cities</a:t>
            </a:r>
            <a:r>
              <a:rPr lang="en-IN" sz="1600" kern="100" dirty="0">
                <a:effectLst/>
                <a:latin typeface="Arial" panose="020B0604020202020204" pitchFamily="34" charset="0"/>
                <a:ea typeface="Aptos" panose="020B0004020202020204" pitchFamily="34" charset="0"/>
                <a:cs typeface="Arial" panose="020B0604020202020204" pitchFamily="34" charset="0"/>
              </a:rPr>
              <a:t> contribute the bulk of high-income, high-spend customers</a:t>
            </a:r>
          </a:p>
        </p:txBody>
      </p:sp>
    </p:spTree>
    <p:extLst>
      <p:ext uri="{BB962C8B-B14F-4D97-AF65-F5344CB8AC3E}">
        <p14:creationId xmlns:p14="http://schemas.microsoft.com/office/powerpoint/2010/main" val="14585697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4DF145-4C5D-165F-F575-1BBF5A5229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7C3543-CE69-322F-37A5-7D4D763B2422}"/>
              </a:ext>
            </a:extLst>
          </p:cNvPr>
          <p:cNvSpPr>
            <a:spLocks noGrp="1"/>
          </p:cNvSpPr>
          <p:nvPr>
            <p:ph type="ctrTitle"/>
          </p:nvPr>
        </p:nvSpPr>
        <p:spPr>
          <a:xfrm>
            <a:off x="4472442" y="2133600"/>
            <a:ext cx="3572101" cy="2262781"/>
          </a:xfrm>
        </p:spPr>
        <p:txBody>
          <a:bodyPr>
            <a:normAutofit/>
          </a:bodyPr>
          <a:lstStyle/>
          <a:p>
            <a:r>
              <a:rPr lang="en-US" sz="4000" dirty="0">
                <a:latin typeface="Arial" panose="020B0604020202020204" pitchFamily="34" charset="0"/>
                <a:cs typeface="Arial" panose="020B0604020202020204" pitchFamily="34" charset="0"/>
              </a:rPr>
              <a:t>Thank You</a:t>
            </a:r>
            <a:br>
              <a:rPr lang="en-US" b="1" dirty="0"/>
            </a:br>
            <a:endParaRPr lang="en-IN" dirty="0">
              <a:latin typeface="Gill Sans MT" panose="020B0502020104020203" pitchFamily="34" charset="0"/>
            </a:endParaRPr>
          </a:p>
        </p:txBody>
      </p:sp>
    </p:spTree>
    <p:extLst>
      <p:ext uri="{BB962C8B-B14F-4D97-AF65-F5344CB8AC3E}">
        <p14:creationId xmlns:p14="http://schemas.microsoft.com/office/powerpoint/2010/main" val="185356321"/>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115</TotalTime>
  <Words>554</Words>
  <Application>Microsoft Office PowerPoint</Application>
  <PresentationFormat>Widescreen</PresentationFormat>
  <Paragraphs>30</Paragraphs>
  <Slides>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Arial</vt:lpstr>
      <vt:lpstr>Bahnschrift Condensed</vt:lpstr>
      <vt:lpstr>Calibri</vt:lpstr>
      <vt:lpstr>Century Gothic</vt:lpstr>
      <vt:lpstr>Gill Sans MT</vt:lpstr>
      <vt:lpstr>Symbol</vt:lpstr>
      <vt:lpstr>Wingdings 3</vt:lpstr>
      <vt:lpstr>Wisp</vt:lpstr>
      <vt:lpstr>Insights to the Product Strategy Team in the Banking Domain </vt:lpstr>
      <vt:lpstr>What is a Banking Domain?</vt:lpstr>
      <vt:lpstr>Problem Statement</vt:lpstr>
      <vt:lpstr>Customer Spending overview</vt:lpstr>
      <vt:lpstr>Customer Demographics &amp; Spending Patterns</vt:lpstr>
      <vt:lpstr>Income-Based Spending &amp; Category Insights</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Rekha sangwan</dc:creator>
  <cp:lastModifiedBy>Rekha sangwan</cp:lastModifiedBy>
  <cp:revision>2</cp:revision>
  <dcterms:created xsi:type="dcterms:W3CDTF">2025-12-11T07:40:43Z</dcterms:created>
  <dcterms:modified xsi:type="dcterms:W3CDTF">2026-01-10T07:19:19Z</dcterms:modified>
</cp:coreProperties>
</file>